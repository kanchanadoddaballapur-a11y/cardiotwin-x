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8FAFC"/>
                </a:solidFill>
              </a:defRPr>
            </a:pPr>
            <a:r>
              <a:t>CardioTwin X: System Architecture Diagram</a:t>
            </a:r>
          </a:p>
          <a:p>
            <a:pPr algn="ctr">
              <a:defRPr sz="1400">
                <a:solidFill>
                  <a:srgbClr val="38BDF8"/>
                </a:solidFill>
              </a:defRPr>
            </a:pPr>
            <a:r>
              <a:t>Adaptive Simulation-Driven Cardiovascular Digital Twin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2560320" cy="457200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t>1. Telemetry Ingestion</a:t>
            </a:r>
          </a:p>
          <a:p>
            <a:pPr>
              <a:defRPr sz="950">
                <a:solidFill>
                  <a:srgbClr val="E2E8F0"/>
                </a:solidFill>
              </a:defRPr>
            </a:pPr>
            <a:r>
              <a:t>Continuous 24h Vitals Stream</a:t>
            </a:r>
          </a:p>
          <a:p>
            <a:pPr>
              <a:defRPr sz="950">
                <a:solidFill>
                  <a:srgbClr val="E2E8F0"/>
                </a:solidFill>
              </a:defRPr>
            </a:pPr>
            <a:r>
              <a:t>Heart Rate (HR - bpm)</a:t>
            </a:r>
          </a:p>
          <a:p>
            <a:pPr>
              <a:defRPr sz="950">
                <a:solidFill>
                  <a:srgbClr val="E2E8F0"/>
                </a:solidFill>
              </a:defRPr>
            </a:pPr>
            <a:r>
              <a:t>Systolic BP (SBP - mmHg)</a:t>
            </a:r>
          </a:p>
          <a:p>
            <a:pPr>
              <a:defRPr sz="950">
                <a:solidFill>
                  <a:srgbClr val="E2E8F0"/>
                </a:solidFill>
              </a:defRPr>
            </a:pPr>
            <a:r>
              <a:t>Diastolic BP (DBP - mmHg)</a:t>
            </a:r>
          </a:p>
          <a:p>
            <a:pPr>
              <a:defRPr sz="950">
                <a:solidFill>
                  <a:srgbClr val="E2E8F0"/>
                </a:solidFill>
              </a:defRPr>
            </a:pPr>
            <a:r>
              <a:t>Circadian Baseline Rhythm</a:t>
            </a:r>
          </a:p>
          <a:p>
            <a:pPr>
              <a:defRPr sz="950">
                <a:solidFill>
                  <a:srgbClr val="E2E8F0"/>
                </a:solidFill>
              </a:defRPr>
            </a:pPr>
            <a:r>
              <a:t>Stress / Exercise Episodes</a:t>
            </a:r>
          </a:p>
          <a:p>
            <a:pPr>
              <a:defRPr sz="950">
                <a:solidFill>
                  <a:srgbClr val="E2E8F0"/>
                </a:solidFill>
              </a:defRPr>
            </a:pPr>
            <a:r>
              <a:t>Sensor Dropout (NaN) Ingestion</a:t>
            </a:r>
          </a:p>
          <a:p>
            <a:pPr>
              <a:defRPr sz="950">
                <a:solidFill>
                  <a:srgbClr val="E2E8F0"/>
                </a:solidFill>
              </a:defRPr>
            </a:pPr>
            <a:r>
              <a:t>Secondary Manual Entry Vitals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64992" y="1463040"/>
            <a:ext cx="2560320" cy="457200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818CF8"/>
                </a:solidFill>
              </a:defRPr>
            </a:pPr>
            <a:r>
              <a:t>2. Adaptive State Estimator</a:t>
            </a:r>
          </a:p>
          <a:p>
            <a:pPr>
              <a:defRPr sz="950">
                <a:solidFill>
                  <a:srgbClr val="E2E8F0"/>
                </a:solidFill>
              </a:defRPr>
            </a:pPr>
            <a:r>
              <a:t>Unscented Kalman Filter (UKF)</a:t>
            </a:r>
          </a:p>
          <a:p>
            <a:pPr>
              <a:defRPr sz="950">
                <a:solidFill>
                  <a:srgbClr val="E2E8F0"/>
                </a:solidFill>
              </a:defRPr>
            </a:pPr>
            <a:r>
              <a:t>3-Element Windkessel (WK3 ODE)</a:t>
            </a:r>
          </a:p>
          <a:p>
            <a:pPr>
              <a:defRPr sz="950">
                <a:solidFill>
                  <a:srgbClr val="E2E8F0"/>
                </a:solidFill>
              </a:defRPr>
            </a:pPr>
            <a:r>
              <a:t>• Rp: Vascular Resistance</a:t>
            </a:r>
          </a:p>
          <a:p>
            <a:pPr>
              <a:defRPr sz="950">
                <a:solidFill>
                  <a:srgbClr val="E2E8F0"/>
                </a:solidFill>
              </a:defRPr>
            </a:pPr>
            <a:r>
              <a:t>• C: Arterial Compliance</a:t>
            </a:r>
          </a:p>
          <a:p>
            <a:pPr>
              <a:defRPr sz="950">
                <a:solidFill>
                  <a:srgbClr val="E2E8F0"/>
                </a:solidFill>
              </a:defRPr>
            </a:pPr>
            <a:r>
              <a:t>• SV: Stroke Volume</a:t>
            </a:r>
          </a:p>
          <a:p>
            <a:pPr>
              <a:defRPr sz="950">
                <a:solidFill>
                  <a:srgbClr val="E2E8F0"/>
                </a:solidFill>
              </a:defRPr>
            </a:pPr>
            <a:r>
              <a:t>• HR: Chronotropic State</a:t>
            </a:r>
          </a:p>
          <a:p>
            <a:pPr>
              <a:defRPr sz="950">
                <a:solidFill>
                  <a:srgbClr val="E2E8F0"/>
                </a:solidFill>
              </a:defRPr>
            </a:pPr>
            <a:r>
              <a:t>Deterministic Sigma-Points (2L+1)</a:t>
            </a:r>
          </a:p>
          <a:p>
            <a:pPr>
              <a:defRPr sz="950">
                <a:solidFill>
                  <a:srgbClr val="E2E8F0"/>
                </a:solidFill>
              </a:defRPr>
            </a:pPr>
            <a:r>
              <a:t>RK45 ODE Integration (SciPy)</a:t>
            </a:r>
          </a:p>
          <a:p>
            <a:pPr>
              <a:defRPr sz="950">
                <a:solidFill>
                  <a:srgbClr val="E2E8F0"/>
                </a:solidFill>
              </a:defRPr>
            </a:pPr>
            <a:r>
              <a:t>Dynamic Baroreflex Feedback Loop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81344" y="1463040"/>
            <a:ext cx="2560320" cy="457200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43F5E"/>
                </a:solidFill>
              </a:defRPr>
            </a:pPr>
            <a:r>
              <a:t>3. Innovation Divergence Engine</a:t>
            </a:r>
          </a:p>
          <a:p>
            <a:pPr>
              <a:defRPr sz="950">
                <a:solidFill>
                  <a:srgbClr val="E2E8F0"/>
                </a:solidFill>
              </a:defRPr>
            </a:pPr>
            <a:r>
              <a:t>Normalized Innovation Vector (v)</a:t>
            </a:r>
          </a:p>
          <a:p>
            <a:pPr>
              <a:defRPr sz="950">
                <a:solidFill>
                  <a:srgbClr val="E2E8F0"/>
                </a:solidFill>
              </a:defRPr>
            </a:pPr>
            <a:r>
              <a:t>Mahalanobis Distance D_M:</a:t>
            </a:r>
          </a:p>
          <a:p>
            <a:pPr>
              <a:defRPr sz="950">
                <a:solidFill>
                  <a:srgbClr val="E2E8F0"/>
                </a:solidFill>
              </a:defRPr>
            </a:pPr>
            <a:r>
              <a:t>   D_M = sqrt(v^T * S^-1 * v)</a:t>
            </a:r>
          </a:p>
          <a:p>
            <a:pPr>
              <a:defRPr sz="950">
                <a:solidFill>
                  <a:srgbClr val="E2E8F0"/>
                </a:solidFill>
              </a:defRPr>
            </a:pPr>
            <a:r>
              <a:t>Quantile Chi-Square Thresholds:</a:t>
            </a:r>
          </a:p>
          <a:p>
            <a:pPr>
              <a:defRPr sz="950">
                <a:solidFill>
                  <a:srgbClr val="E2E8F0"/>
                </a:solidFill>
              </a:defRPr>
            </a:pPr>
            <a:r>
              <a:t>• Normal (D_M &lt; 2.30)</a:t>
            </a:r>
          </a:p>
          <a:p>
            <a:pPr>
              <a:defRPr sz="950">
                <a:solidFill>
                  <a:srgbClr val="E2E8F0"/>
                </a:solidFill>
              </a:defRPr>
            </a:pPr>
            <a:r>
              <a:t>• Watch (2.30 &lt;= D_M &lt; 3.14)</a:t>
            </a:r>
          </a:p>
          <a:p>
            <a:pPr>
              <a:defRPr sz="950">
                <a:solidFill>
                  <a:srgbClr val="E2E8F0"/>
                </a:solidFill>
              </a:defRPr>
            </a:pPr>
            <a:r>
              <a:t>• Significant (D_M &gt;= 3.14)</a:t>
            </a:r>
          </a:p>
          <a:p>
            <a:pPr>
              <a:defRPr sz="950">
                <a:solidFill>
                  <a:srgbClr val="E2E8F0"/>
                </a:solidFill>
              </a:defRPr>
            </a:pPr>
            <a:r>
              <a:t>N=3 Persistence Glitch Filter</a:t>
            </a:r>
          </a:p>
          <a:p>
            <a:pPr>
              <a:defRPr sz="950">
                <a:solidFill>
                  <a:srgbClr val="E2E8F0"/>
                </a:solidFill>
              </a:defRPr>
            </a:pPr>
            <a:r>
              <a:t>50-Twin Monte Carlo Ensemble (90%)</a:t>
            </a:r>
          </a:p>
          <a:p>
            <a:pPr>
              <a:defRPr sz="950">
                <a:solidFill>
                  <a:srgbClr val="E2E8F0"/>
                </a:solidFill>
              </a:defRPr>
            </a:pPr>
            <a:r>
              <a:t>IsolationForest Secondary Detector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97696" y="1463040"/>
            <a:ext cx="2560320" cy="457200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34D399"/>
                </a:solidFill>
              </a:defRPr>
            </a:pPr>
            <a:r>
              <a:t>4. Clinical Decision &amp; UI</a:t>
            </a:r>
          </a:p>
          <a:p>
            <a:pPr>
              <a:defRPr sz="950">
                <a:solidFill>
                  <a:srgbClr val="E2E8F0"/>
                </a:solidFill>
              </a:defRPr>
            </a:pPr>
            <a:r>
              <a:t>Dynamic 3D Biomechanical Heart</a:t>
            </a:r>
          </a:p>
          <a:p>
            <a:pPr>
              <a:defRPr sz="950">
                <a:solidFill>
                  <a:srgbClr val="E2E8F0"/>
                </a:solidFill>
              </a:defRPr>
            </a:pPr>
            <a:r>
              <a:t>• Pressure-Mapped Ventricle Mesh</a:t>
            </a:r>
          </a:p>
          <a:p>
            <a:pPr>
              <a:defRPr sz="950">
                <a:solidFill>
                  <a:srgbClr val="E2E8F0"/>
                </a:solidFill>
              </a:defRPr>
            </a:pPr>
            <a:r>
              <a:t>• Aortic Arch Pulsation &amp; Coloring</a:t>
            </a:r>
          </a:p>
          <a:p>
            <a:pPr>
              <a:defRPr sz="950">
                <a:solidFill>
                  <a:srgbClr val="E2E8F0"/>
                </a:solidFill>
              </a:defRPr>
            </a:pPr>
            <a:r>
              <a:t>Explainability Narrative Engine</a:t>
            </a:r>
          </a:p>
          <a:p>
            <a:pPr>
              <a:defRPr sz="950">
                <a:solidFill>
                  <a:srgbClr val="E2E8F0"/>
                </a:solidFill>
              </a:defRPr>
            </a:pPr>
            <a:r>
              <a:t>• Parameter Shift % &amp; Sigma Scores</a:t>
            </a:r>
          </a:p>
          <a:p>
            <a:pPr>
              <a:defRPr sz="950">
                <a:solidFill>
                  <a:srgbClr val="E2E8F0"/>
                </a:solidFill>
              </a:defRPr>
            </a:pPr>
            <a:r>
              <a:t>What-If Counterfactual Simulator</a:t>
            </a:r>
          </a:p>
          <a:p>
            <a:pPr>
              <a:defRPr sz="950">
                <a:solidFill>
                  <a:srgbClr val="E2E8F0"/>
                </a:solidFill>
              </a:defRPr>
            </a:pPr>
            <a:r>
              <a:t>• Vasodilation / Salt / Exercise</a:t>
            </a:r>
          </a:p>
          <a:p>
            <a:pPr>
              <a:defRPr sz="950">
                <a:solidFill>
                  <a:srgbClr val="E2E8F0"/>
                </a:solidFill>
              </a:defRPr>
            </a:pPr>
            <a:r>
              <a:t>Data Reliability Scoring (High/Med/Low)</a:t>
            </a:r>
          </a:p>
          <a:p>
            <a:pPr>
              <a:defRPr sz="950">
                <a:solidFill>
                  <a:srgbClr val="E2E8F0"/>
                </a:solidFill>
              </a:defRPr>
            </a:pPr>
            <a:r>
              <a:t>30-Patient Cohort Benchmark 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21792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94A3B8"/>
                </a:solidFill>
              </a:defRPr>
            </a:pPr>
            <a:r>
              <a:t>CardioTwin X — Developed at BMS Institute of Technology and Management (BMSIT&amp;M) | Open-Source (MIT)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